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863227f2174101" /><Relationship Type="http://schemas.openxmlformats.org/officeDocument/2006/relationships/extended-properties" Target="/docProps/app.xml" Id="Rb6216967c3ee452d" /><Relationship Type="http://schemas.openxmlformats.org/officeDocument/2006/relationships/officeDocument" Target="/ppt/presentation.xml" Id="Rd2ef9b5d92c34bdf" /></Relationships>
</file>

<file path=ppt/presentation.xml><?xml version="1.0" encoding="utf-8"?>
<p:presentation xmlns:p="http://schemas.openxmlformats.org/presentationml/2006/main">
  <p:sldMasterIdLst>
    <p:sldMasterId xmlns:r="http://schemas.openxmlformats.org/officeDocument/2006/relationships" id="2147483648" r:id="R638f5c4087234599"/>
  </p:sldMasterIdLst>
  <p:notesMasterIdLst>
    <p:notesMasterId xmlns:r="http://schemas.openxmlformats.org/officeDocument/2006/relationships" r:id="R48379c52303046cf"/>
  </p:notesMasterIdLst>
  <p:sldIdLst>
    <p:sldId xmlns:r="http://schemas.openxmlformats.org/officeDocument/2006/relationships" id="256" r:id="Rb60b04003e944c4b"/>
    <p:sldId xmlns:r="http://schemas.openxmlformats.org/officeDocument/2006/relationships" id="257" r:id="Ra860ea463d5749c3"/>
    <p:sldId xmlns:r="http://schemas.openxmlformats.org/officeDocument/2006/relationships" id="258" r:id="R667f1666170b44b4"/>
    <p:sldId xmlns:r="http://schemas.openxmlformats.org/officeDocument/2006/relationships" id="259" r:id="R5c547ba4efa64b87"/>
    <p:sldId xmlns:r="http://schemas.openxmlformats.org/officeDocument/2006/relationships" id="260" r:id="R342ddf88f6b648dc"/>
    <p:sldId xmlns:r="http://schemas.openxmlformats.org/officeDocument/2006/relationships" id="261" r:id="Rd9fce5dabbf34f14"/>
    <p:sldId xmlns:r="http://schemas.openxmlformats.org/officeDocument/2006/relationships" id="262" r:id="Rdce8aee8a27e4930"/>
    <p:sldId xmlns:r="http://schemas.openxmlformats.org/officeDocument/2006/relationships" id="263" r:id="R1ddfcf67901b44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53d885a8fb4c48" /><Relationship Type="http://schemas.openxmlformats.org/officeDocument/2006/relationships/slideMaster" Target="/ppt/slideMasters/slideMaster1.xml" Id="R638f5c4087234599" /><Relationship Type="http://schemas.openxmlformats.org/officeDocument/2006/relationships/notesMaster" Target="/ppt/notesMasters/notesMaster1.xml" Id="R48379c52303046cf" /><Relationship Type="http://schemas.openxmlformats.org/officeDocument/2006/relationships/presProps" Target="/ppt/presProps.xml" Id="R09de41abba214088" /><Relationship Type="http://schemas.openxmlformats.org/officeDocument/2006/relationships/tableStyles" Target="/ppt/tableStyles.xml" Id="R5f0aa0d0112a43f9" /><Relationship Type="http://schemas.openxmlformats.org/officeDocument/2006/relationships/slide" Target="/ppt/slides/slide1.xml" Id="Rb60b04003e944c4b" /><Relationship Type="http://schemas.openxmlformats.org/officeDocument/2006/relationships/slide" Target="/ppt/slides/slide2.xml" Id="Ra860ea463d5749c3" /><Relationship Type="http://schemas.openxmlformats.org/officeDocument/2006/relationships/slide" Target="/ppt/slides/slide3.xml" Id="R667f1666170b44b4" /><Relationship Type="http://schemas.openxmlformats.org/officeDocument/2006/relationships/slide" Target="/ppt/slides/slide4.xml" Id="R5c547ba4efa64b87" /><Relationship Type="http://schemas.openxmlformats.org/officeDocument/2006/relationships/slide" Target="/ppt/slides/slide5.xml" Id="R342ddf88f6b648dc" /><Relationship Type="http://schemas.openxmlformats.org/officeDocument/2006/relationships/slide" Target="/ppt/slides/slide6.xml" Id="Rd9fce5dabbf34f14" /><Relationship Type="http://schemas.openxmlformats.org/officeDocument/2006/relationships/slide" Target="/ppt/slides/slide7.xml" Id="Rdce8aee8a27e4930" /><Relationship Type="http://schemas.openxmlformats.org/officeDocument/2006/relationships/slide" Target="/ppt/slides/slide8.xml" Id="R1ddfcf67901b44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0d5abce6d549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63b5e1529f4f3c" /><Relationship Type="http://schemas.openxmlformats.org/officeDocument/2006/relationships/notesMaster" Target="/ppt/notesMasters/notesMaster1.xml" Id="Ra309a2c4e61f45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1e2f71a8d749f4" /><Relationship Type="http://schemas.openxmlformats.org/officeDocument/2006/relationships/notesMaster" Target="/ppt/notesMasters/notesMaster1.xml" Id="Rec9829b08aa44d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8ee85d07e84d88" /><Relationship Type="http://schemas.openxmlformats.org/officeDocument/2006/relationships/notesMaster" Target="/ppt/notesMasters/notesMaster1.xml" Id="Rd7ba19c650014c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d5d38b6e6a493b" /><Relationship Type="http://schemas.openxmlformats.org/officeDocument/2006/relationships/notesMaster" Target="/ppt/notesMasters/notesMaster1.xml" Id="R8c9e2474514a4e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8e741867b34194" /><Relationship Type="http://schemas.openxmlformats.org/officeDocument/2006/relationships/notesMaster" Target="/ppt/notesMasters/notesMaster1.xml" Id="R64fef3b945c840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36c9bac59f4566" /><Relationship Type="http://schemas.openxmlformats.org/officeDocument/2006/relationships/notesMaster" Target="/ppt/notesMasters/notesMaster1.xml" Id="R860204b1a837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740e9ff653434b" /><Relationship Type="http://schemas.openxmlformats.org/officeDocument/2006/relationships/notesMaster" Target="/ppt/notesMasters/notesMaster1.xml" Id="R7412225f65e443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deed7481794fd6" /><Relationship Type="http://schemas.openxmlformats.org/officeDocument/2006/relationships/notesMaster" Target="/ppt/notesMasters/notesMaster1.xml" Id="R536427f0306e4b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ThreadBack is a Windows prototype for deliberate task handoffs. This deck describes current local implementation and the planned Snapdragon optimization path. Do not present it as hardware-validated until target-device results have been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 case is a student interrupted during a technical project. This is a problem hypothesis grounded in the example, not a quantified productivity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goal and two source notes. The example rejects Approach A because it needs internet and leaves Approach B’s memory use unresolved. Inputs are user selected. No background screen capture occurs. Screenshot is from the actual local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actual generated content. Every AI statement has an exact source quote and an inspectable evidence link. Exact-quote validation checks provenance, not semantic correctness. Users can edit the interpretation. Screenshot is a real local generation and save/reopen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WPF/.NET desktop, Windows OCR, Whisper Base English, quantized Qwen through llama.cpp, and Windows DPAPI storage. Workers are separate processes. The language model binds to loopback and uses a per-launch token. First-time downloads need internet. Independent network-isolation testing remains pending. Windows OCR passed a local unpackaged smoke test but Microsoft documents package identity for supported desktop deployment. Source: https://learn.microsoft.com/en-us/uwp/api/windows.media.ocr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Intel development-laptop results, not Snapdragon measurements. Storage checks verify encrypted roundtrip, attachment preservation, overwrites, citation rejection, null sections, user edits, input limits, duplicate IDs, corruption reporting and deletion as grouped into the current test runner. Speech timing is one synthetic WAV smoke test including the worker/model load, not a statistical benchmark or word-error-rate evaluation. Source: local artifacts/verification/capabilities.json and tests/ThreadBack.Checks.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Snapdragon-powered HP PCs. First NPU target: Whisper transcription using Qualcomm’s Windows ONNX/QNN example. AI Hub supports model compile/profile/inference jobs. Device Cloud provides remote device sessions. Record the exact available device and do not equate reference-device results with HP-specific validation. Sources: https://aihub.qualcomm.com/apps/whisper_windows_py ; https://aihub.qualcomm.com/ ; https://qdc.qualcomm.com/support/faq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Adjacent product: Microsoft Recall already supports retrieval of previous activity and reopening content. ThreadBack’s proposed distinction is explicit, evidence-linked task handoff with decisions and uncertainty. No world-first or productivity-percentage claim is made. Source: https://learn.microsoft.com/en-us/windows/apps/develop/windows-integration/recall/ . Model and runtime sources: https://huggingface.co/Qwen/Qwen3-4B-GGUF ; https://huggingface.co/Qwen/Qwen2.5-1.5B-Instruct-GGUF ; https://github.com/ggml-org/llama.cpp ; https://github.com/ggml-org/whisper.cpp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86f65ad1b540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6cbabce3b148af" /><Relationship Type="http://schemas.openxmlformats.org/officeDocument/2006/relationships/slideLayout" Target="/ppt/slideLayouts/slideLayout1.xml" Id="R50bc82318db840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bc82318db840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af3b58798848d2" /><Relationship Type="http://schemas.openxmlformats.org/officeDocument/2006/relationships/notesSlide" Target="/ppt/notesSlides/notesSlide1.xml" Id="Rb9625dce32c74b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0943730bab4493" /><Relationship Type="http://schemas.openxmlformats.org/officeDocument/2006/relationships/notesSlide" Target="/ppt/notesSlides/notesSlide2.xml" Id="Reb505dbed8644c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0ea0ccb6e34e5d" /><Relationship Type="http://schemas.openxmlformats.org/officeDocument/2006/relationships/image" Target="/ppt/media/image.png" Id="R0fca1b5d14284c15" /><Relationship Type="http://schemas.openxmlformats.org/officeDocument/2006/relationships/notesSlide" Target="/ppt/notesSlides/notesSlide3.xml" Id="Reba5762e27aa48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c5d72147fb4e68" /><Relationship Type="http://schemas.openxmlformats.org/officeDocument/2006/relationships/image" Target="/ppt/media/image2.png" Id="R60cfb8a12fd84f91" /><Relationship Type="http://schemas.openxmlformats.org/officeDocument/2006/relationships/notesSlide" Target="/ppt/notesSlides/notesSlide4.xml" Id="Rbb41a9ec152843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cfc5d2bced438f" /><Relationship Type="http://schemas.openxmlformats.org/officeDocument/2006/relationships/notesSlide" Target="/ppt/notesSlides/notesSlide5.xml" Id="R873088f655164a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c435fbc0c1459c" /><Relationship Type="http://schemas.openxmlformats.org/officeDocument/2006/relationships/notesSlide" Target="/ppt/notesSlides/notesSlide6.xml" Id="R3c26032fdedd4c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0b7ab6ff274c43" /><Relationship Type="http://schemas.openxmlformats.org/officeDocument/2006/relationships/notesSlide" Target="/ppt/notesSlides/notesSlide7.xml" Id="Rbd037390fd3443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2ed61b0feb43b0" /><Relationship Type="http://schemas.openxmlformats.org/officeDocument/2006/relationships/notesSlide" Target="/ppt/notesSlides/notesSlide8.xml" Id="R6f383871e86d4527" /></Relationships>
</file>

<file path=ppt/slides/slide1.xml><?xml version="1.0" encoding="utf-8"?>
<p:sld xmlns:p="http://schemas.openxmlformats.org/presentationml/2006/main">
  <p:cSld>
    <p:bg>
      <p:bgPr>
        <a:solidFill xmlns:a="http://schemas.openxmlformats.org/drawingml/2006/main">
          <a:srgbClr val="29253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B78AE4-9BE7-4719-BE0B-7DE8A37E4BE8}"/>
              </a:ext>
            </a:extLst>
          </p:cNvPr>
          <p:cNvSpPr>
            <a:spLocks xmlns:a="http://schemas.openxmlformats.org/drawingml/2006/main" noGrp="1"/>
          </p:cNvSpPr>
          <p:nvPr/>
        </p:nvSpPr>
        <p:spPr>
          <a:xfrm xmlns:a="http://schemas.openxmlformats.org/drawingml/2006/main">
            <a:off x="666750" y="1762125"/>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FFFFFF"/>
                </a:solidFill>
                <a:latin typeface="Arial"/>
                <a:ea typeface="Arial"/>
                <a:cs typeface="Arial"/>
              </a:defRPr>
            </a:pPr>
            <a:r>
              <a:rPr sz="7800" b="1">
                <a:solidFill>
                  <a:srgbClr val="FFFFFF"/>
                </a:solidFill>
                <a:latin typeface="Arial"/>
                <a:ea typeface="Arial"/>
                <a:cs typeface="Arial"/>
              </a:rPr>
              <a:t>ThreadBack</a:t>
            </a:r>
          </a:p>
        </p:txBody>
      </p:sp>
      <p:sp>
        <p:nvSpPr>
          <p:cNvPr id="2" name="">
            <a:extLst xmlns:a="http://schemas.openxmlformats.org/drawingml/2006/main">
              <a:ext uri="{FF2B5EF4-FFF2-40B4-BE49-F238E27FC236}">
                <a16:creationId xmlns:a16="http://schemas.microsoft.com/office/drawing/2014/main" id="{B93D338D-635F-402B-9158-8ECE5F55B584}"/>
              </a:ext>
            </a:extLst>
          </p:cNvPr>
          <p:cNvSpPr>
            <a:spLocks xmlns:a="http://schemas.openxmlformats.org/drawingml/2006/main" noGrp="1"/>
          </p:cNvSpPr>
          <p:nvPr/>
        </p:nvSpPr>
        <p:spPr>
          <a:xfrm xmlns:a="http://schemas.openxmlformats.org/drawingml/2006/main">
            <a:off x="723900" y="33337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D6C4F4"/>
                </a:solidFill>
                <a:latin typeface="Arial"/>
                <a:ea typeface="Arial"/>
                <a:cs typeface="Arial"/>
              </a:defRPr>
            </a:pPr>
            <a:r>
              <a:rPr sz="3000" b="0">
                <a:solidFill>
                  <a:srgbClr val="D6C4F4"/>
                </a:solidFill>
                <a:latin typeface="Arial"/>
                <a:ea typeface="Arial"/>
                <a:cs typeface="Arial"/>
              </a:rPr>
              <a:t>A handoff to your future self</a:t>
            </a:r>
          </a:p>
        </p:txBody>
      </p:sp>
      <p:sp>
        <p:nvSpPr>
          <p:cNvPr id="3" name="">
            <a:extLst xmlns:a="http://schemas.openxmlformats.org/drawingml/2006/main">
              <a:ext uri="{FF2B5EF4-FFF2-40B4-BE49-F238E27FC236}">
                <a16:creationId xmlns:a16="http://schemas.microsoft.com/office/drawing/2014/main" id="{D1AF3F70-6E31-4F36-ADE8-0AB65320E351}"/>
              </a:ext>
            </a:extLst>
          </p:cNvPr>
          <p:cNvSpPr>
            <a:spLocks xmlns:a="http://schemas.openxmlformats.org/drawingml/2006/main" noGrp="1"/>
          </p:cNvSpPr>
          <p:nvPr/>
        </p:nvSpPr>
        <p:spPr>
          <a:xfrm xmlns:a="http://schemas.openxmlformats.org/drawingml/2006/main">
            <a:off x="723900" y="5762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0C8DD"/>
                </a:solidFill>
                <a:latin typeface="Arial"/>
                <a:ea typeface="Arial"/>
                <a:cs typeface="Arial"/>
              </a:defRPr>
            </a:pPr>
            <a:r>
              <a:rPr sz="1800" b="0">
                <a:solidFill>
                  <a:srgbClr val="D0C8DD"/>
                </a:solidFill>
                <a:latin typeface="Arial"/>
                <a:ea typeface="Arial"/>
                <a:cs typeface="Arial"/>
              </a:rPr>
              <a:t>Snapdragon AI Lab Build &amp; Present Challenge</a:t>
            </a:r>
          </a:p>
        </p:txBody>
      </p:sp>
    </p:spTree>
    <p:extLst>
      <p:ext uri="{BB962C8B-B14F-4D97-AF65-F5344CB8AC3E}">
        <p14:creationId xmlns:p14="http://schemas.microsoft.com/office/powerpoint/2010/main" val="2001535888"/>
      </p:ext>
    </p:extLst>
  </p:cSld>
</p:sld>
</file>

<file path=ppt/slides/slide2.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B90105-5AD7-430E-A9A2-B44DAC599C27}"/>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The unfinished thought</a:t>
            </a:r>
          </a:p>
        </p:txBody>
      </p:sp>
      <p:sp>
        <p:nvSpPr>
          <p:cNvPr id="2" name="">
            <a:extLst xmlns:a="http://schemas.openxmlformats.org/drawingml/2006/main">
              <a:ext uri="{FF2B5EF4-FFF2-40B4-BE49-F238E27FC236}">
                <a16:creationId xmlns:a16="http://schemas.microsoft.com/office/drawing/2014/main" id="{700B837F-376C-4BFE-B57F-80DB74B860B2}"/>
              </a:ext>
            </a:extLst>
          </p:cNvPr>
          <p:cNvSpPr>
            <a:spLocks xmlns:a="http://schemas.openxmlformats.org/drawingml/2006/main" noGrp="1"/>
          </p:cNvSpPr>
          <p:nvPr/>
        </p:nvSpPr>
        <p:spPr>
          <a:xfrm xmlns:a="http://schemas.openxmlformats.org/drawingml/2006/main">
            <a:off x="685800" y="1714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7151BF"/>
                </a:solidFill>
                <a:latin typeface="Arial"/>
                <a:ea typeface="Arial"/>
                <a:cs typeface="Arial"/>
              </a:defRPr>
            </a:pPr>
            <a:r>
              <a:rPr sz="3600" b="1">
                <a:solidFill>
                  <a:srgbClr val="7151BF"/>
                </a:solidFill>
                <a:latin typeface="Arial"/>
                <a:ea typeface="Arial"/>
                <a:cs typeface="Arial"/>
              </a:rPr>
              <a:t>“Why did I reject that approach?”</a:t>
            </a:r>
          </a:p>
        </p:txBody>
      </p:sp>
      <p:sp>
        <p:nvSpPr>
          <p:cNvPr id="3" name="">
            <a:extLst xmlns:a="http://schemas.openxmlformats.org/drawingml/2006/main">
              <a:ext uri="{FF2B5EF4-FFF2-40B4-BE49-F238E27FC236}">
                <a16:creationId xmlns:a16="http://schemas.microsoft.com/office/drawing/2014/main" id="{871F5EC4-F659-4018-8CDD-232FC97D53F9}"/>
              </a:ext>
            </a:extLst>
          </p:cNvPr>
          <p:cNvSpPr>
            <a:spLocks xmlns:a="http://schemas.openxmlformats.org/drawingml/2006/main" noGrp="1"/>
          </p:cNvSpPr>
          <p:nvPr/>
        </p:nvSpPr>
        <p:spPr>
          <a:xfrm xmlns:a="http://schemas.openxmlformats.org/drawingml/2006/main">
            <a:off x="723900" y="30670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92536"/>
                </a:solidFill>
                <a:latin typeface="Arial"/>
                <a:ea typeface="Arial"/>
                <a:cs typeface="Arial"/>
              </a:defRPr>
            </a:pPr>
            <a:r>
              <a:rPr sz="2550" b="0">
                <a:solidFill>
                  <a:srgbClr val="292536"/>
                </a:solidFill>
                <a:latin typeface="Arial"/>
                <a:ea typeface="Arial"/>
                <a:cs typeface="Arial"/>
              </a:rPr>
              <a:t>Reopening a file does not necessarily recover the reasoning behind it.</a:t>
            </a:r>
          </a:p>
        </p:txBody>
      </p:sp>
      <p:sp>
        <p:nvSpPr>
          <p:cNvPr id="4" name="">
            <a:extLst xmlns:a="http://schemas.openxmlformats.org/drawingml/2006/main">
              <a:ext uri="{FF2B5EF4-FFF2-40B4-BE49-F238E27FC236}">
                <a16:creationId xmlns:a16="http://schemas.microsoft.com/office/drawing/2014/main" id="{B46B5323-D2C9-4178-9080-98422B180548}"/>
              </a:ext>
            </a:extLst>
          </p:cNvPr>
          <p:cNvSpPr>
            <a:spLocks xmlns:a="http://schemas.openxmlformats.org/drawingml/2006/main" noGrp="1"/>
          </p:cNvSpPr>
          <p:nvPr/>
        </p:nvSpPr>
        <p:spPr>
          <a:xfrm xmlns:a="http://schemas.openxmlformats.org/drawingml/2006/main">
            <a:off x="723900" y="4533900"/>
            <a:ext cx="1028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6D6579"/>
                </a:solidFill>
                <a:latin typeface="Arial"/>
                <a:ea typeface="Arial"/>
                <a:cs typeface="Arial"/>
              </a:defRPr>
            </a:pPr>
            <a:r>
              <a:rPr sz="2325" b="0">
                <a:solidFill>
                  <a:srgbClr val="6D6579"/>
                </a:solidFill>
                <a:latin typeface="Arial"/>
                <a:ea typeface="Arial"/>
                <a:cs typeface="Arial"/>
              </a:rPr>
              <a:t>ThreadBack preserves the decision, the unresolved test, and the next action with their source evidence.</a:t>
            </a:r>
          </a:p>
        </p:txBody>
      </p:sp>
    </p:spTree>
    <p:extLst>
      <p:ext uri="{BB962C8B-B14F-4D97-AF65-F5344CB8AC3E}">
        <p14:creationId xmlns:p14="http://schemas.microsoft.com/office/powerpoint/2010/main" val="1248552289"/>
      </p:ext>
    </p:extLst>
  </p:cSld>
</p:sld>
</file>

<file path=ppt/slides/slide3.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7CC2E1-321E-4F6E-84F4-CAD6F71E9918}"/>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A deliberate pause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fca1b5d14284c15"/>
          <a:stretch xmlns:a="http://schemas.openxmlformats.org/drawingml/2006/main"/>
        </p:blipFill>
        <p:spPr>
          <a:xfrm xmlns:a="http://schemas.openxmlformats.org/drawingml/2006/main">
            <a:off x="3695397" y="1457325"/>
            <a:ext cx="7849205" cy="5238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AEEA98B-0061-4296-9430-537D9DB9620B}"/>
              </a:ext>
            </a:extLst>
          </p:cNvPr>
          <p:cNvSpPr>
            <a:spLocks xmlns:a="http://schemas.openxmlformats.org/drawingml/2006/main" noGrp="1"/>
          </p:cNvSpPr>
          <p:nvPr/>
        </p:nvSpPr>
        <p:spPr>
          <a:xfrm xmlns:a="http://schemas.openxmlformats.org/drawingml/2006/main">
            <a:off x="609600" y="1905000"/>
            <a:ext cx="276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151BF"/>
                </a:solidFill>
                <a:latin typeface="Arial"/>
                <a:ea typeface="Arial"/>
                <a:cs typeface="Arial"/>
              </a:defRPr>
            </a:pPr>
            <a:r>
              <a:rPr sz="2625" b="1">
                <a:solidFill>
                  <a:srgbClr val="7151BF"/>
                </a:solidFill>
                <a:latin typeface="Arial"/>
                <a:ea typeface="Arial"/>
                <a:cs typeface="Arial"/>
              </a:rPr>
              <a:t>A goal and a short handoff</a:t>
            </a:r>
          </a:p>
        </p:txBody>
      </p:sp>
      <p:sp>
        <p:nvSpPr>
          <p:cNvPr id="4" name="">
            <a:extLst xmlns:a="http://schemas.openxmlformats.org/drawingml/2006/main">
              <a:ext uri="{FF2B5EF4-FFF2-40B4-BE49-F238E27FC236}">
                <a16:creationId xmlns:a16="http://schemas.microsoft.com/office/drawing/2014/main" id="{46F555EB-C50C-4B22-947D-0C5F114B4141}"/>
              </a:ext>
            </a:extLst>
          </p:cNvPr>
          <p:cNvSpPr>
            <a:spLocks xmlns:a="http://schemas.openxmlformats.org/drawingml/2006/main" noGrp="1"/>
          </p:cNvSpPr>
          <p:nvPr/>
        </p:nvSpPr>
        <p:spPr>
          <a:xfrm xmlns:a="http://schemas.openxmlformats.org/drawingml/2006/main">
            <a:off x="609600" y="3714750"/>
            <a:ext cx="276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D6579"/>
                </a:solidFill>
                <a:latin typeface="Arial"/>
                <a:ea typeface="Arial"/>
                <a:cs typeface="Arial"/>
              </a:defRPr>
            </a:pPr>
            <a:r>
              <a:rPr sz="2175" b="0">
                <a:solidFill>
                  <a:srgbClr val="6D6579"/>
                </a:solidFill>
                <a:latin typeface="Arial"/>
                <a:ea typeface="Arial"/>
                <a:cs typeface="Arial"/>
              </a:rPr>
              <a:t>Notes, screenshots, or a voice memo.</a:t>
            </a:r>
          </a:p>
        </p:txBody>
      </p:sp>
    </p:spTree>
    <p:extLst>
      <p:ext uri="{BB962C8B-B14F-4D97-AF65-F5344CB8AC3E}">
        <p14:creationId xmlns:p14="http://schemas.microsoft.com/office/powerpoint/2010/main" val="217196387"/>
      </p:ext>
    </p:extLst>
  </p:cSld>
</p:sld>
</file>

<file path=ppt/slides/slide4.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CB06E5-711D-4BF9-865C-2780DB7AEFE6}"/>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A checkable next step</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cfb8a12fd84f91"/>
          <a:stretch xmlns:a="http://schemas.openxmlformats.org/drawingml/2006/main"/>
        </p:blipFill>
        <p:spPr>
          <a:xfrm xmlns:a="http://schemas.openxmlformats.org/drawingml/2006/main">
            <a:off x="3695397" y="1457325"/>
            <a:ext cx="7849205" cy="5238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A12809-A602-45B2-9C90-24A7D9B49860}"/>
              </a:ext>
            </a:extLst>
          </p:cNvPr>
          <p:cNvSpPr>
            <a:spLocks xmlns:a="http://schemas.openxmlformats.org/drawingml/2006/main" noGrp="1"/>
          </p:cNvSpPr>
          <p:nvPr/>
        </p:nvSpPr>
        <p:spPr>
          <a:xfrm xmlns:a="http://schemas.openxmlformats.org/drawingml/2006/main">
            <a:off x="609600" y="1809750"/>
            <a:ext cx="2809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151BF"/>
                </a:solidFill>
                <a:latin typeface="Arial"/>
                <a:ea typeface="Arial"/>
                <a:cs typeface="Arial"/>
              </a:defRPr>
            </a:pPr>
            <a:r>
              <a:rPr sz="2625" b="1">
                <a:solidFill>
                  <a:srgbClr val="7151BF"/>
                </a:solidFill>
                <a:latin typeface="Arial"/>
                <a:ea typeface="Arial"/>
                <a:cs typeface="Arial"/>
              </a:rPr>
              <a:t>Decisions stay beside their evidence</a:t>
            </a:r>
          </a:p>
        </p:txBody>
      </p:sp>
      <p:sp>
        <p:nvSpPr>
          <p:cNvPr id="4" name="">
            <a:extLst xmlns:a="http://schemas.openxmlformats.org/drawingml/2006/main">
              <a:ext uri="{FF2B5EF4-FFF2-40B4-BE49-F238E27FC236}">
                <a16:creationId xmlns:a16="http://schemas.microsoft.com/office/drawing/2014/main" id="{B41BDAE4-47E3-49E2-BBF9-F1F874BA2009}"/>
              </a:ext>
            </a:extLst>
          </p:cNvPr>
          <p:cNvSpPr>
            <a:spLocks xmlns:a="http://schemas.openxmlformats.org/drawingml/2006/main" noGrp="1"/>
          </p:cNvSpPr>
          <p:nvPr/>
        </p:nvSpPr>
        <p:spPr>
          <a:xfrm xmlns:a="http://schemas.openxmlformats.org/drawingml/2006/main">
            <a:off x="609600" y="4191000"/>
            <a:ext cx="2809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D6579"/>
                </a:solidFill>
                <a:latin typeface="Arial"/>
                <a:ea typeface="Arial"/>
                <a:cs typeface="Arial"/>
              </a:defRPr>
            </a:pPr>
            <a:r>
              <a:rPr sz="2100" b="0">
                <a:solidFill>
                  <a:srgbClr val="6D6579"/>
                </a:solidFill>
                <a:latin typeface="Arial"/>
                <a:ea typeface="Arial"/>
                <a:cs typeface="Arial"/>
              </a:rPr>
              <a:t>Unknowns stay visible. Suggested actions remain editable.</a:t>
            </a:r>
          </a:p>
        </p:txBody>
      </p:sp>
    </p:spTree>
    <p:extLst>
      <p:ext uri="{BB962C8B-B14F-4D97-AF65-F5344CB8AC3E}">
        <p14:creationId xmlns:p14="http://schemas.microsoft.com/office/powerpoint/2010/main" val="1326791698"/>
      </p:ext>
    </p:extLst>
  </p:cSld>
</p:sld>
</file>

<file path=ppt/slides/slide5.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5B2217-63D6-43BE-A11B-2916A6E00255}"/>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Local processing</a:t>
            </a:r>
          </a:p>
        </p:txBody>
      </p:sp>
      <p:sp>
        <p:nvSpPr>
          <p:cNvPr id="2" name="">
            <a:extLst xmlns:a="http://schemas.openxmlformats.org/drawingml/2006/main">
              <a:ext uri="{FF2B5EF4-FFF2-40B4-BE49-F238E27FC236}">
                <a16:creationId xmlns:a16="http://schemas.microsoft.com/office/drawing/2014/main" id="{33E5B1F3-0A74-463E-8FDE-C57BE8256091}"/>
              </a:ext>
            </a:extLst>
          </p:cNvPr>
          <p:cNvSpPr>
            <a:spLocks xmlns:a="http://schemas.openxmlformats.org/drawingml/2006/main" noGrp="1"/>
          </p:cNvSpPr>
          <p:nvPr/>
        </p:nvSpPr>
        <p:spPr>
          <a:xfrm xmlns:a="http://schemas.openxmlformats.org/drawingml/2006/main">
            <a:off x="685800" y="17621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151BF"/>
                </a:solidFill>
                <a:latin typeface="Arial"/>
                <a:ea typeface="Arial"/>
                <a:cs typeface="Arial"/>
              </a:defRPr>
            </a:pPr>
            <a:r>
              <a:rPr sz="2550" b="1">
                <a:solidFill>
                  <a:srgbClr val="7151BF"/>
                </a:solidFill>
                <a:latin typeface="Arial"/>
                <a:ea typeface="Arial"/>
                <a:cs typeface="Arial"/>
              </a:rPr>
              <a:t>01  Selected evidence</a:t>
            </a:r>
          </a:p>
        </p:txBody>
      </p:sp>
      <p:sp>
        <p:nvSpPr>
          <p:cNvPr id="3" name="">
            <a:extLst xmlns:a="http://schemas.openxmlformats.org/drawingml/2006/main">
              <a:ext uri="{FF2B5EF4-FFF2-40B4-BE49-F238E27FC236}">
                <a16:creationId xmlns:a16="http://schemas.microsoft.com/office/drawing/2014/main" id="{84E465AA-D4D1-4002-B050-4F5AFC6F8A8C}"/>
              </a:ext>
            </a:extLst>
          </p:cNvPr>
          <p:cNvSpPr>
            <a:spLocks xmlns:a="http://schemas.openxmlformats.org/drawingml/2006/main" noGrp="1"/>
          </p:cNvSpPr>
          <p:nvPr/>
        </p:nvSpPr>
        <p:spPr>
          <a:xfrm xmlns:a="http://schemas.openxmlformats.org/drawingml/2006/main">
            <a:off x="685800" y="2619375"/>
            <a:ext cx="4810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OCR and speech transcription produce text the user reviews.</a:t>
            </a:r>
          </a:p>
        </p:txBody>
      </p:sp>
      <p:sp>
        <p:nvSpPr>
          <p:cNvPr id="4" name="">
            <a:extLst xmlns:a="http://schemas.openxmlformats.org/drawingml/2006/main">
              <a:ext uri="{FF2B5EF4-FFF2-40B4-BE49-F238E27FC236}">
                <a16:creationId xmlns:a16="http://schemas.microsoft.com/office/drawing/2014/main" id="{6B60D6AD-9E93-436B-8307-296931C61015}"/>
              </a:ext>
            </a:extLst>
          </p:cNvPr>
          <p:cNvSpPr>
            <a:spLocks xmlns:a="http://schemas.openxmlformats.org/drawingml/2006/main" noGrp="1"/>
          </p:cNvSpPr>
          <p:nvPr/>
        </p:nvSpPr>
        <p:spPr>
          <a:xfrm xmlns:a="http://schemas.openxmlformats.org/drawingml/2006/main">
            <a:off x="6667500" y="17621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151BF"/>
                </a:solidFill>
                <a:latin typeface="Arial"/>
                <a:ea typeface="Arial"/>
                <a:cs typeface="Arial"/>
              </a:defRPr>
            </a:pPr>
            <a:r>
              <a:rPr sz="2550" b="1">
                <a:solidFill>
                  <a:srgbClr val="7151BF"/>
                </a:solidFill>
                <a:latin typeface="Arial"/>
                <a:ea typeface="Arial"/>
                <a:cs typeface="Arial"/>
              </a:rPr>
              <a:t>02  Structured handoff</a:t>
            </a:r>
          </a:p>
        </p:txBody>
      </p:sp>
      <p:sp>
        <p:nvSpPr>
          <p:cNvPr id="5" name="">
            <a:extLst xmlns:a="http://schemas.openxmlformats.org/drawingml/2006/main">
              <a:ext uri="{FF2B5EF4-FFF2-40B4-BE49-F238E27FC236}">
                <a16:creationId xmlns:a16="http://schemas.microsoft.com/office/drawing/2014/main" id="{88B6B487-6AA5-4189-968E-BB1F0A0356F3}"/>
              </a:ext>
            </a:extLst>
          </p:cNvPr>
          <p:cNvSpPr>
            <a:spLocks xmlns:a="http://schemas.openxmlformats.org/drawingml/2006/main" noGrp="1"/>
          </p:cNvSpPr>
          <p:nvPr/>
        </p:nvSpPr>
        <p:spPr>
          <a:xfrm xmlns:a="http://schemas.openxmlformats.org/drawingml/2006/main">
            <a:off x="6667500" y="2619375"/>
            <a:ext cx="4810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Local generation adds quotes. Validation links them to the source.</a:t>
            </a:r>
          </a:p>
        </p:txBody>
      </p:sp>
      <p:sp>
        <p:nvSpPr>
          <p:cNvPr id="6" name="">
            <a:extLst xmlns:a="http://schemas.openxmlformats.org/drawingml/2006/main">
              <a:ext uri="{FF2B5EF4-FFF2-40B4-BE49-F238E27FC236}">
                <a16:creationId xmlns:a16="http://schemas.microsoft.com/office/drawing/2014/main" id="{6A5A8BEA-6541-4994-8F27-5879167DBC04}"/>
              </a:ext>
            </a:extLst>
          </p:cNvPr>
          <p:cNvSpPr>
            <a:spLocks xmlns:a="http://schemas.openxmlformats.org/drawingml/2006/main" noGrp="1"/>
          </p:cNvSpPr>
          <p:nvPr/>
        </p:nvSpPr>
        <p:spPr>
          <a:xfrm xmlns:a="http://schemas.openxmlformats.org/drawingml/2006/main">
            <a:off x="723900" y="48577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6D6579"/>
                </a:solidFill>
                <a:latin typeface="Arial"/>
                <a:ea typeface="Arial"/>
                <a:cs typeface="Arial"/>
              </a:defRPr>
            </a:pPr>
            <a:r>
              <a:rPr sz="2475" b="0">
                <a:solidFill>
                  <a:srgbClr val="6D6579"/>
                </a:solidFill>
                <a:latin typeface="Arial"/>
                <a:ea typeface="Arial"/>
                <a:cs typeface="Arial"/>
              </a:rPr>
              <a:t>Capsules persist in protected storage for the current Windows account.</a:t>
            </a:r>
          </a:p>
        </p:txBody>
      </p:sp>
    </p:spTree>
    <p:extLst>
      <p:ext uri="{BB962C8B-B14F-4D97-AF65-F5344CB8AC3E}">
        <p14:creationId xmlns:p14="http://schemas.microsoft.com/office/powerpoint/2010/main" val="1905212259"/>
      </p:ext>
    </p:extLst>
  </p:cSld>
</p:sld>
</file>

<file path=ppt/slides/slide6.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A39FD9-1E49-405E-93C0-77A84DC4A497}"/>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What the prototype has demonstrated</a:t>
            </a:r>
          </a:p>
        </p:txBody>
      </p:sp>
      <p:sp>
        <p:nvSpPr>
          <p:cNvPr id="2" name="">
            <a:extLst xmlns:a="http://schemas.openxmlformats.org/drawingml/2006/main">
              <a:ext uri="{FF2B5EF4-FFF2-40B4-BE49-F238E27FC236}">
                <a16:creationId xmlns:a16="http://schemas.microsoft.com/office/drawing/2014/main" id="{8C852824-DC66-410F-9EB6-FCE9B7AF4E3F}"/>
              </a:ext>
            </a:extLst>
          </p:cNvPr>
          <p:cNvSpPr>
            <a:spLocks xmlns:a="http://schemas.openxmlformats.org/drawingml/2006/main" noGrp="1"/>
          </p:cNvSpPr>
          <p:nvPr/>
        </p:nvSpPr>
        <p:spPr>
          <a:xfrm xmlns:a="http://schemas.openxmlformats.org/drawingml/2006/main">
            <a:off x="723900" y="1809750"/>
            <a:ext cx="3810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7151BF"/>
                </a:solidFill>
                <a:latin typeface="Arial"/>
                <a:ea typeface="Arial"/>
                <a:cs typeface="Arial"/>
              </a:defRPr>
            </a:pPr>
            <a:r>
              <a:rPr sz="8250" b="1">
                <a:solidFill>
                  <a:srgbClr val="7151BF"/>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3D77A17-9836-4336-87B5-E3E07E590D5B}"/>
              </a:ext>
            </a:extLst>
          </p:cNvPr>
          <p:cNvSpPr>
            <a:spLocks xmlns:a="http://schemas.openxmlformats.org/drawingml/2006/main" noGrp="1"/>
          </p:cNvSpPr>
          <p:nvPr/>
        </p:nvSpPr>
        <p:spPr>
          <a:xfrm xmlns:a="http://schemas.openxmlformats.org/drawingml/2006/main">
            <a:off x="762000" y="3381375"/>
            <a:ext cx="4429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36"/>
                </a:solidFill>
                <a:latin typeface="Arial"/>
                <a:ea typeface="Arial"/>
                <a:cs typeface="Arial"/>
              </a:defRPr>
            </a:pPr>
            <a:r>
              <a:rPr sz="2400" b="0">
                <a:solidFill>
                  <a:srgbClr val="292536"/>
                </a:solidFill>
                <a:latin typeface="Arial"/>
                <a:ea typeface="Arial"/>
                <a:cs typeface="Arial"/>
              </a:rPr>
              <a:t>storage and validation checks passed</a:t>
            </a:r>
          </a:p>
        </p:txBody>
      </p:sp>
      <p:sp>
        <p:nvSpPr>
          <p:cNvPr id="4" name="">
            <a:extLst xmlns:a="http://schemas.openxmlformats.org/drawingml/2006/main">
              <a:ext uri="{FF2B5EF4-FFF2-40B4-BE49-F238E27FC236}">
                <a16:creationId xmlns:a16="http://schemas.microsoft.com/office/drawing/2014/main" id="{A6D9CD68-9A5A-4817-8393-FC0687E14BFC}"/>
              </a:ext>
            </a:extLst>
          </p:cNvPr>
          <p:cNvSpPr>
            <a:spLocks xmlns:a="http://schemas.openxmlformats.org/drawingml/2006/main" noGrp="1"/>
          </p:cNvSpPr>
          <p:nvPr/>
        </p:nvSpPr>
        <p:spPr>
          <a:xfrm xmlns:a="http://schemas.openxmlformats.org/drawingml/2006/main">
            <a:off x="6715125" y="1809750"/>
            <a:ext cx="419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7151BF"/>
                </a:solidFill>
                <a:latin typeface="Arial"/>
                <a:ea typeface="Arial"/>
                <a:cs typeface="Arial"/>
              </a:defRPr>
            </a:pPr>
            <a:r>
              <a:rPr sz="8250" b="1">
                <a:solidFill>
                  <a:srgbClr val="7151BF"/>
                </a:solidFill>
                <a:latin typeface="Arial"/>
                <a:ea typeface="Arial"/>
                <a:cs typeface="Arial"/>
              </a:rPr>
              <a:t>23 s</a:t>
            </a:r>
          </a:p>
        </p:txBody>
      </p:sp>
      <p:sp>
        <p:nvSpPr>
          <p:cNvPr id="5" name="">
            <a:extLst xmlns:a="http://schemas.openxmlformats.org/drawingml/2006/main">
              <a:ext uri="{FF2B5EF4-FFF2-40B4-BE49-F238E27FC236}">
                <a16:creationId xmlns:a16="http://schemas.microsoft.com/office/drawing/2014/main" id="{2E035642-18D6-4243-8D8F-43766997440A}"/>
              </a:ext>
            </a:extLst>
          </p:cNvPr>
          <p:cNvSpPr>
            <a:spLocks xmlns:a="http://schemas.openxmlformats.org/drawingml/2006/main" noGrp="1"/>
          </p:cNvSpPr>
          <p:nvPr/>
        </p:nvSpPr>
        <p:spPr>
          <a:xfrm xmlns:a="http://schemas.openxmlformats.org/drawingml/2006/main">
            <a:off x="6762750" y="3381375"/>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36"/>
                </a:solidFill>
                <a:latin typeface="Arial"/>
                <a:ea typeface="Arial"/>
                <a:cs typeface="Arial"/>
              </a:defRPr>
            </a:pPr>
            <a:r>
              <a:rPr sz="2400" b="0">
                <a:solidFill>
                  <a:srgbClr val="292536"/>
                </a:solidFill>
                <a:latin typeface="Arial"/>
                <a:ea typeface="Arial"/>
                <a:cs typeface="Arial"/>
              </a:rPr>
              <a:t>one synthetic voice handoff transcribed locally</a:t>
            </a:r>
          </a:p>
        </p:txBody>
      </p:sp>
      <p:sp>
        <p:nvSpPr>
          <p:cNvPr id="6" name="">
            <a:extLst xmlns:a="http://schemas.openxmlformats.org/drawingml/2006/main">
              <a:ext uri="{FF2B5EF4-FFF2-40B4-BE49-F238E27FC236}">
                <a16:creationId xmlns:a16="http://schemas.microsoft.com/office/drawing/2014/main" id="{BE42396B-C0E9-425E-A591-736958F9D984}"/>
              </a:ext>
            </a:extLst>
          </p:cNvPr>
          <p:cNvSpPr>
            <a:spLocks xmlns:a="http://schemas.openxmlformats.org/drawingml/2006/main" noGrp="1"/>
          </p:cNvSpPr>
          <p:nvPr/>
        </p:nvSpPr>
        <p:spPr>
          <a:xfrm xmlns:a="http://schemas.openxmlformats.org/drawingml/2006/main">
            <a:off x="762000"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D6579"/>
                </a:solidFill>
                <a:latin typeface="Arial"/>
                <a:ea typeface="Arial"/>
                <a:cs typeface="Arial"/>
              </a:defRPr>
            </a:pPr>
            <a:r>
              <a:rPr sz="2025" b="0">
                <a:solidFill>
                  <a:srgbClr val="6D6579"/>
                </a:solidFill>
                <a:latin typeface="Arial"/>
                <a:ea typeface="Arial"/>
                <a:cs typeface="Arial"/>
              </a:rPr>
              <a:t>Screenshot OCR passed a local smoke test. Target-device performance remains unmeasured.</a:t>
            </a:r>
          </a:p>
        </p:txBody>
      </p:sp>
    </p:spTree>
    <p:extLst>
      <p:ext uri="{BB962C8B-B14F-4D97-AF65-F5344CB8AC3E}">
        <p14:creationId xmlns:p14="http://schemas.microsoft.com/office/powerpoint/2010/main" val="438676041"/>
      </p:ext>
    </p:extLst>
  </p:cSld>
</p:sld>
</file>

<file path=ppt/slides/slide7.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E228A8-214B-4B8E-BDBB-904083D9EA1C}"/>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The Snapdragon validation path</a:t>
            </a:r>
          </a:p>
        </p:txBody>
      </p:sp>
      <p:sp>
        <p:nvSpPr>
          <p:cNvPr id="2" name="">
            <a:extLst xmlns:a="http://schemas.openxmlformats.org/drawingml/2006/main">
              <a:ext uri="{FF2B5EF4-FFF2-40B4-BE49-F238E27FC236}">
                <a16:creationId xmlns:a16="http://schemas.microsoft.com/office/drawing/2014/main" id="{9E25058F-A204-4181-BDE5-5D33D62763D5}"/>
              </a:ext>
            </a:extLst>
          </p:cNvPr>
          <p:cNvSpPr>
            <a:spLocks xmlns:a="http://schemas.openxmlformats.org/drawingml/2006/main" noGrp="1"/>
          </p:cNvSpPr>
          <p:nvPr/>
        </p:nvSpPr>
        <p:spPr>
          <a:xfrm xmlns:a="http://schemas.openxmlformats.org/drawingml/2006/main">
            <a:off x="685800" y="1619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7151BF"/>
                </a:solidFill>
                <a:latin typeface="Arial"/>
                <a:ea typeface="Arial"/>
                <a:cs typeface="Arial"/>
              </a:defRPr>
            </a:pPr>
            <a:r>
              <a:rPr sz="2850" b="1">
                <a:solidFill>
                  <a:srgbClr val="7151BF"/>
                </a:solidFill>
                <a:latin typeface="Arial"/>
                <a:ea typeface="Arial"/>
                <a:cs typeface="Arial"/>
              </a:rPr>
              <a:t>First target: NPU speech transcription</a:t>
            </a:r>
          </a:p>
        </p:txBody>
      </p:sp>
      <p:sp>
        <p:nvSpPr>
          <p:cNvPr id="3" name="">
            <a:extLst xmlns:a="http://schemas.openxmlformats.org/drawingml/2006/main">
              <a:ext uri="{FF2B5EF4-FFF2-40B4-BE49-F238E27FC236}">
                <a16:creationId xmlns:a16="http://schemas.microsoft.com/office/drawing/2014/main" id="{6B00F902-7F73-4FE4-8881-75FE5A7E4773}"/>
              </a:ext>
            </a:extLst>
          </p:cNvPr>
          <p:cNvSpPr>
            <a:spLocks xmlns:a="http://schemas.openxmlformats.org/drawingml/2006/main" noGrp="1"/>
          </p:cNvSpPr>
          <p:nvPr/>
        </p:nvSpPr>
        <p:spPr>
          <a:xfrm xmlns:a="http://schemas.openxmlformats.org/drawingml/2006/main">
            <a:off x="723900" y="295275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92536"/>
                </a:solidFill>
                <a:latin typeface="Arial"/>
                <a:ea typeface="Arial"/>
                <a:cs typeface="Arial"/>
              </a:defRPr>
            </a:pPr>
            <a:r>
              <a:rPr sz="2550" b="1">
                <a:solidFill>
                  <a:srgbClr val="292536"/>
                </a:solidFill>
                <a:latin typeface="Arial"/>
                <a:ea typeface="Arial"/>
                <a:cs typeface="Arial"/>
              </a:rPr>
              <a:t>AI Hub</a:t>
            </a:r>
          </a:p>
        </p:txBody>
      </p:sp>
      <p:sp>
        <p:nvSpPr>
          <p:cNvPr id="4" name="">
            <a:extLst xmlns:a="http://schemas.openxmlformats.org/drawingml/2006/main">
              <a:ext uri="{FF2B5EF4-FFF2-40B4-BE49-F238E27FC236}">
                <a16:creationId xmlns:a16="http://schemas.microsoft.com/office/drawing/2014/main" id="{ABFE94A8-CAA9-4C6F-8CA4-26E8B7D54FF5}"/>
              </a:ext>
            </a:extLst>
          </p:cNvPr>
          <p:cNvSpPr>
            <a:spLocks xmlns:a="http://schemas.openxmlformats.org/drawingml/2006/main" noGrp="1"/>
          </p:cNvSpPr>
          <p:nvPr/>
        </p:nvSpPr>
        <p:spPr>
          <a:xfrm xmlns:a="http://schemas.openxmlformats.org/drawingml/2006/main">
            <a:off x="723900" y="3714750"/>
            <a:ext cx="3000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Compile and profile the speech model.</a:t>
            </a:r>
          </a:p>
        </p:txBody>
      </p:sp>
      <p:sp>
        <p:nvSpPr>
          <p:cNvPr id="5" name="">
            <a:extLst xmlns:a="http://schemas.openxmlformats.org/drawingml/2006/main">
              <a:ext uri="{FF2B5EF4-FFF2-40B4-BE49-F238E27FC236}">
                <a16:creationId xmlns:a16="http://schemas.microsoft.com/office/drawing/2014/main" id="{7BEF22A3-E179-47A9-B1E4-4AD0AB113779}"/>
              </a:ext>
            </a:extLst>
          </p:cNvPr>
          <p:cNvSpPr>
            <a:spLocks xmlns:a="http://schemas.openxmlformats.org/drawingml/2006/main" noGrp="1"/>
          </p:cNvSpPr>
          <p:nvPr/>
        </p:nvSpPr>
        <p:spPr>
          <a:xfrm xmlns:a="http://schemas.openxmlformats.org/drawingml/2006/main">
            <a:off x="4572000" y="2952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92536"/>
                </a:solidFill>
                <a:latin typeface="Arial"/>
                <a:ea typeface="Arial"/>
                <a:cs typeface="Arial"/>
              </a:defRPr>
            </a:pPr>
            <a:r>
              <a:rPr sz="2550" b="1">
                <a:solidFill>
                  <a:srgbClr val="292536"/>
                </a:solidFill>
                <a:latin typeface="Arial"/>
                <a:ea typeface="Arial"/>
                <a:cs typeface="Arial"/>
              </a:rPr>
              <a:t>Device Cloud</a:t>
            </a:r>
          </a:p>
        </p:txBody>
      </p:sp>
      <p:sp>
        <p:nvSpPr>
          <p:cNvPr id="6" name="">
            <a:extLst xmlns:a="http://schemas.openxmlformats.org/drawingml/2006/main">
              <a:ext uri="{FF2B5EF4-FFF2-40B4-BE49-F238E27FC236}">
                <a16:creationId xmlns:a16="http://schemas.microsoft.com/office/drawing/2014/main" id="{DC2967BF-954A-4C70-8551-5B58CA4BF785}"/>
              </a:ext>
            </a:extLst>
          </p:cNvPr>
          <p:cNvSpPr>
            <a:spLocks xmlns:a="http://schemas.openxmlformats.org/drawingml/2006/main" noGrp="1"/>
          </p:cNvSpPr>
          <p:nvPr/>
        </p:nvSpPr>
        <p:spPr>
          <a:xfrm xmlns:a="http://schemas.openxmlformats.org/drawingml/2006/main">
            <a:off x="4572000" y="3714750"/>
            <a:ext cx="3000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Run the app on an available Windows Snapdragon device.</a:t>
            </a:r>
          </a:p>
        </p:txBody>
      </p:sp>
      <p:sp>
        <p:nvSpPr>
          <p:cNvPr id="7" name="">
            <a:extLst xmlns:a="http://schemas.openxmlformats.org/drawingml/2006/main">
              <a:ext uri="{FF2B5EF4-FFF2-40B4-BE49-F238E27FC236}">
                <a16:creationId xmlns:a16="http://schemas.microsoft.com/office/drawing/2014/main" id="{0A970148-BD6A-4D92-A9C8-3916B27F5864}"/>
              </a:ext>
            </a:extLst>
          </p:cNvPr>
          <p:cNvSpPr>
            <a:spLocks xmlns:a="http://schemas.openxmlformats.org/drawingml/2006/main" noGrp="1"/>
          </p:cNvSpPr>
          <p:nvPr/>
        </p:nvSpPr>
        <p:spPr>
          <a:xfrm xmlns:a="http://schemas.openxmlformats.org/drawingml/2006/main">
            <a:off x="8477250" y="2952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92536"/>
                </a:solidFill>
                <a:latin typeface="Arial"/>
                <a:ea typeface="Arial"/>
                <a:cs typeface="Arial"/>
              </a:defRPr>
            </a:pPr>
            <a:r>
              <a:rPr sz="2550" b="1">
                <a:solidFill>
                  <a:srgbClr val="292536"/>
                </a:solidFill>
                <a:latin typeface="Arial"/>
                <a:ea typeface="Arial"/>
                <a:cs typeface="Arial"/>
              </a:rPr>
              <a:t>HP validation</a:t>
            </a:r>
          </a:p>
        </p:txBody>
      </p:sp>
      <p:sp>
        <p:nvSpPr>
          <p:cNvPr id="8" name="">
            <a:extLst xmlns:a="http://schemas.openxmlformats.org/drawingml/2006/main">
              <a:ext uri="{FF2B5EF4-FFF2-40B4-BE49-F238E27FC236}">
                <a16:creationId xmlns:a16="http://schemas.microsoft.com/office/drawing/2014/main" id="{2015CCC1-9B39-4C07-9E6D-F0B49776357D}"/>
              </a:ext>
            </a:extLst>
          </p:cNvPr>
          <p:cNvSpPr>
            <a:spLocks xmlns:a="http://schemas.openxmlformats.org/drawingml/2006/main" noGrp="1"/>
          </p:cNvSpPr>
          <p:nvPr/>
        </p:nvSpPr>
        <p:spPr>
          <a:xfrm xmlns:a="http://schemas.openxmlformats.org/drawingml/2006/main">
            <a:off x="8477250" y="3714750"/>
            <a:ext cx="3000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Verify the complete workflow on the intended PC.</a:t>
            </a:r>
          </a:p>
        </p:txBody>
      </p:sp>
      <p:sp>
        <p:nvSpPr>
          <p:cNvPr id="9" name="">
            <a:extLst xmlns:a="http://schemas.openxmlformats.org/drawingml/2006/main">
              <a:ext uri="{FF2B5EF4-FFF2-40B4-BE49-F238E27FC236}">
                <a16:creationId xmlns:a16="http://schemas.microsoft.com/office/drawing/2014/main" id="{78A2B6B0-1FB8-4CD6-A7A8-C514E3346D61}"/>
              </a:ext>
            </a:extLst>
          </p:cNvPr>
          <p:cNvSpPr>
            <a:spLocks xmlns:a="http://schemas.openxmlformats.org/drawingml/2006/main" noGrp="1"/>
          </p:cNvSpPr>
          <p:nvPr/>
        </p:nvSpPr>
        <p:spPr>
          <a:xfrm xmlns:a="http://schemas.openxmlformats.org/drawingml/2006/main">
            <a:off x="723900" y="5953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D6579"/>
                </a:solidFill>
                <a:latin typeface="Arial"/>
                <a:ea typeface="Arial"/>
                <a:cs typeface="Arial"/>
              </a:defRPr>
            </a:pPr>
            <a:r>
              <a:rPr sz="1800" b="0">
                <a:solidFill>
                  <a:srgbClr val="6D6579"/>
                </a:solidFill>
                <a:latin typeface="Arial"/>
                <a:ea typeface="Arial"/>
                <a:cs typeface="Arial"/>
              </a:rPr>
              <a:t>Pending access and measurements</a:t>
            </a:r>
          </a:p>
        </p:txBody>
      </p:sp>
    </p:spTree>
    <p:extLst>
      <p:ext uri="{BB962C8B-B14F-4D97-AF65-F5344CB8AC3E}">
        <p14:creationId xmlns:p14="http://schemas.microsoft.com/office/powerpoint/2010/main" val="863583665"/>
      </p:ext>
    </p:extLst>
  </p:cSld>
</p:sld>
</file>

<file path=ppt/slides/slide8.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C49872-44AB-4DC3-AB83-55454E682BDD}"/>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Technical appendix</a:t>
            </a:r>
          </a:p>
        </p:txBody>
      </p:sp>
      <p:sp>
        <p:nvSpPr>
          <p:cNvPr id="2" name="">
            <a:extLst xmlns:a="http://schemas.openxmlformats.org/drawingml/2006/main">
              <a:ext uri="{FF2B5EF4-FFF2-40B4-BE49-F238E27FC236}">
                <a16:creationId xmlns:a16="http://schemas.microsoft.com/office/drawing/2014/main" id="{8C87FB4A-B750-4C1F-8811-6C4476EB0955}"/>
              </a:ext>
            </a:extLst>
          </p:cNvPr>
          <p:cNvSpPr>
            <a:spLocks xmlns:a="http://schemas.openxmlformats.org/drawingml/2006/main" noGrp="1"/>
          </p:cNvSpPr>
          <p:nvPr/>
        </p:nvSpPr>
        <p:spPr>
          <a:xfrm xmlns:a="http://schemas.openxmlformats.org/drawingml/2006/main">
            <a:off x="685800" y="1666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151BF"/>
                </a:solidFill>
                <a:latin typeface="Arial"/>
                <a:ea typeface="Arial"/>
                <a:cs typeface="Arial"/>
              </a:defRPr>
            </a:pPr>
            <a:r>
              <a:rPr sz="2625" b="1">
                <a:solidFill>
                  <a:srgbClr val="7151BF"/>
                </a:solidFill>
                <a:latin typeface="Arial"/>
                <a:ea typeface="Arial"/>
                <a:cs typeface="Arial"/>
              </a:rPr>
              <a:t>Reproducible evaluation</a:t>
            </a:r>
          </a:p>
        </p:txBody>
      </p:sp>
      <p:sp>
        <p:nvSpPr>
          <p:cNvPr id="3" name="">
            <a:extLst xmlns:a="http://schemas.openxmlformats.org/drawingml/2006/main">
              <a:ext uri="{FF2B5EF4-FFF2-40B4-BE49-F238E27FC236}">
                <a16:creationId xmlns:a16="http://schemas.microsoft.com/office/drawing/2014/main" id="{DF25E3A4-FC9B-4695-A595-267EE04B798E}"/>
              </a:ext>
            </a:extLst>
          </p:cNvPr>
          <p:cNvSpPr>
            <a:spLocks xmlns:a="http://schemas.openxmlformats.org/drawingml/2006/main" noGrp="1"/>
          </p:cNvSpPr>
          <p:nvPr/>
        </p:nvSpPr>
        <p:spPr>
          <a:xfrm xmlns:a="http://schemas.openxmlformats.org/drawingml/2006/main">
            <a:off x="723900" y="25717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536"/>
                </a:solidFill>
                <a:latin typeface="Arial"/>
                <a:ea typeface="Arial"/>
                <a:cs typeface="Arial"/>
              </a:defRPr>
            </a:pPr>
            <a:r>
              <a:rPr sz="2250" b="0">
                <a:solidFill>
                  <a:srgbClr val="292536"/>
                </a:solidFill>
                <a:latin typeface="Arial"/>
                <a:ea typeface="Arial"/>
                <a:cs typeface="Arial"/>
              </a:rPr>
              <a:t>12 synthetic scenarios cover study, debugging, research, incomplete work, and untrusted input.</a:t>
            </a:r>
          </a:p>
        </p:txBody>
      </p:sp>
      <p:sp>
        <p:nvSpPr>
          <p:cNvPr id="4" name="">
            <a:extLst xmlns:a="http://schemas.openxmlformats.org/drawingml/2006/main">
              <a:ext uri="{FF2B5EF4-FFF2-40B4-BE49-F238E27FC236}">
                <a16:creationId xmlns:a16="http://schemas.microsoft.com/office/drawing/2014/main" id="{89316BD5-304A-4800-83FC-766FB5F75426}"/>
              </a:ext>
            </a:extLst>
          </p:cNvPr>
          <p:cNvSpPr>
            <a:spLocks xmlns:a="http://schemas.openxmlformats.org/drawingml/2006/main" noGrp="1"/>
          </p:cNvSpPr>
          <p:nvPr/>
        </p:nvSpPr>
        <p:spPr>
          <a:xfrm xmlns:a="http://schemas.openxmlformats.org/drawingml/2006/main">
            <a:off x="723900" y="39528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536"/>
                </a:solidFill>
                <a:latin typeface="Arial"/>
                <a:ea typeface="Arial"/>
                <a:cs typeface="Arial"/>
              </a:defRPr>
            </a:pPr>
            <a:r>
              <a:rPr sz="2250" b="0">
                <a:solidFill>
                  <a:srgbClr val="292536"/>
                </a:solidFill>
                <a:latin typeface="Arial"/>
                <a:ea typeface="Arial"/>
                <a:cs typeface="Arial"/>
              </a:rPr>
              <a:t>Pinned models and runtimes. Exact source quotes. Editable interpretations. No automatic commands.</a:t>
            </a:r>
          </a:p>
        </p:txBody>
      </p:sp>
      <p:sp>
        <p:nvSpPr>
          <p:cNvPr id="5" name="">
            <a:extLst xmlns:a="http://schemas.openxmlformats.org/drawingml/2006/main">
              <a:ext uri="{FF2B5EF4-FFF2-40B4-BE49-F238E27FC236}">
                <a16:creationId xmlns:a16="http://schemas.microsoft.com/office/drawing/2014/main" id="{80B5FD49-5675-46A4-BB58-B5B95871F93B}"/>
              </a:ext>
            </a:extLst>
          </p:cNvPr>
          <p:cNvSpPr>
            <a:spLocks xmlns:a="http://schemas.openxmlformats.org/drawingml/2006/main" noGrp="1"/>
          </p:cNvSpPr>
          <p:nvPr/>
        </p:nvSpPr>
        <p:spPr>
          <a:xfrm xmlns:a="http://schemas.openxmlformats.org/drawingml/2006/main">
            <a:off x="723900" y="5286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D6579"/>
                </a:solidFill>
                <a:latin typeface="Arial"/>
                <a:ea typeface="Arial"/>
                <a:cs typeface="Arial"/>
              </a:defRPr>
            </a:pPr>
            <a:r>
              <a:rPr sz="1950" b="0">
                <a:solidFill>
                  <a:srgbClr val="6D6579"/>
                </a:solidFill>
                <a:latin typeface="Arial"/>
                <a:ea typeface="Arial"/>
                <a:cs typeface="Arial"/>
              </a:rPr>
              <a:t>Remaining: semantic-quality review, installed-package validation, Snapdragon NPU measurements, and a user study.</a:t>
            </a:r>
          </a:p>
        </p:txBody>
      </p:sp>
    </p:spTree>
    <p:extLst>
      <p:ext uri="{BB962C8B-B14F-4D97-AF65-F5344CB8AC3E}">
        <p14:creationId xmlns:p14="http://schemas.microsoft.com/office/powerpoint/2010/main" val="127277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2026-09-22T12:13:36.2220000Z</dcterms:created>
  <dcterms:modified xsi:type="dcterms:W3CDTF">2026-09-22T12:13:36.2220000Z</dcterms:modified>
</coreProperties>
</file>